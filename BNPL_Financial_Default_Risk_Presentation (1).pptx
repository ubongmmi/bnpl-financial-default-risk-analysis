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8912E"/>
              </a:solidFill>
              <a:effectLst/>
            </c:spPr>
          </c:dPt>
          <c:dPt>
            <c:idx val="2"/>
            <c:bubble3D val="0"/>
            <c:spPr>
              <a:solidFill>
                <a:srgbClr val="C0433B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(8,800 — 88.0%)</c:v>
                </c:pt>
                <c:pt idx="1">
                  <c:v>Medium (680 — 6.8%)</c:v>
                </c:pt>
                <c:pt idx="2">
                  <c:v>High (521 — 5.2%)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88</c:v>
                </c:pt>
                <c:pt idx="1">
                  <c:v>6.8</c:v>
                </c:pt>
                <c:pt idx="2">
                  <c:v>5.2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Employed</c:v>
                  </c:pt>
                  <c:pt idx="1">
                    <c:v>Freelancer</c:v>
                  </c:pt>
                  <c:pt idx="2">
                    <c:v>Student</c:v>
                  </c:pt>
                  <c:pt idx="3">
                    <c:v>Unemployed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98.31</c:v>
                </c:pt>
                <c:pt idx="1">
                  <c:v>92.11</c:v>
                </c:pt>
                <c:pt idx="2">
                  <c:v>66.41</c:v>
                </c:pt>
                <c:pt idx="3">
                  <c:v>37.4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891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Employed</c:v>
                  </c:pt>
                  <c:pt idx="1">
                    <c:v>Freelancer</c:v>
                  </c:pt>
                  <c:pt idx="2">
                    <c:v>Student</c:v>
                  </c:pt>
                  <c:pt idx="3">
                    <c:v>Unemployed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5.62</c:v>
                </c:pt>
                <c:pt idx="2">
                  <c:v>19</c:v>
                </c:pt>
                <c:pt idx="3">
                  <c:v>25.79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C043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Employed</c:v>
                  </c:pt>
                  <c:pt idx="1">
                    <c:v>Freelancer</c:v>
                  </c:pt>
                  <c:pt idx="2">
                    <c:v>Student</c:v>
                  </c:pt>
                  <c:pt idx="3">
                    <c:v>Unemployed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0.69</c:v>
                </c:pt>
                <c:pt idx="1">
                  <c:v>2.27</c:v>
                </c:pt>
                <c:pt idx="2">
                  <c:v>14.58</c:v>
                </c:pt>
                <c:pt idx="3">
                  <c:v>36.81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 (M)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M&quot;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Groceries/Essentials</c:v>
                  </c:pt>
                  <c:pt idx="1">
                    <c:v>Travel</c:v>
                  </c:pt>
                  <c:pt idx="2">
                    <c:v>Home/Furniture</c:v>
                  </c:pt>
                  <c:pt idx="3">
                    <c:v>Electronics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0.17</c:v>
                </c:pt>
                <c:pt idx="1">
                  <c:v>0.34</c:v>
                </c:pt>
                <c:pt idx="2">
                  <c:v>0.53</c:v>
                </c:pt>
                <c:pt idx="3">
                  <c:v>1.04</c:v>
                </c:pt>
                <c:pt idx="4">
                  <c:v>1.4</c:v>
                </c:pt>
              </c:numCache>
            </c:numRef>
          </c:val>
        </c:ser>
        <c:dLbls>
          <c:numFmt formatCode="0.00&quot;M&quot;" sourceLinked="0"/>
          <c:txPr>
            <a:bodyPr/>
            <a:lstStyle/>
            <a:p>
              <a:pPr>
                <a:defRPr b="1" i="0" strike="noStrike" sz="11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5"/>
          <c:min val="0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0.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(K)</c:v>
                </c:pt>
              </c:strCache>
            </c:strRef>
          </c:tx>
          <c:spPr>
            <a:solidFill>
              <a:srgbClr val="E8912E"/>
            </a:solidFill>
            <a:effectLst/>
          </c:spPr>
          <c:invertIfNegative val="0"/>
          <c:dLbls>
            <c:numFmt formatCode="0.00&quot;K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Late Payment</c:v>
                  </c:pt>
                  <c:pt idx="1">
                    <c:v>Late Payment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7.52</c:v>
                </c:pt>
                <c:pt idx="1">
                  <c:v>2.48</c:v>
                </c:pt>
              </c:numCache>
            </c:numRef>
          </c:val>
        </c:ser>
        <c:dLbls>
          <c:numFmt formatCode="0.00&quot;K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5"/>
          <c:min val="0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Customers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&quot;K&quot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55+</c:v>
                  </c:pt>
                  <c:pt idx="1">
                    <c:v>45-54</c:v>
                  </c:pt>
                  <c:pt idx="2">
                    <c:v>35-44</c:v>
                  </c:pt>
                  <c:pt idx="3">
                    <c:v>25-34</c:v>
                  </c:pt>
                  <c:pt idx="4">
                    <c:v>18-24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</c:v>
                </c:pt>
                <c:pt idx="1">
                  <c:v>1.35</c:v>
                </c:pt>
                <c:pt idx="2">
                  <c:v>1.84</c:v>
                </c:pt>
                <c:pt idx="3">
                  <c:v>2.71</c:v>
                </c:pt>
                <c:pt idx="4">
                  <c:v>3.14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 which Low Risk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K&quot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55+</c:v>
                  </c:pt>
                  <c:pt idx="1">
                    <c:v>45-54</c:v>
                  </c:pt>
                  <c:pt idx="2">
                    <c:v>35-44</c:v>
                  </c:pt>
                  <c:pt idx="3">
                    <c:v>25-34</c:v>
                  </c:pt>
                  <c:pt idx="4">
                    <c:v>18-24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</c:v>
                </c:pt>
                <c:pt idx="1">
                  <c:v>1.2</c:v>
                </c:pt>
                <c:pt idx="2">
                  <c:v>1.6</c:v>
                </c:pt>
                <c:pt idx="3">
                  <c:v>2.4</c:v>
                </c:pt>
                <c:pt idx="4">
                  <c:v>2.8</c:v>
                </c:pt>
              </c:numCache>
            </c:numRef>
          </c:val>
        </c:ser>
        <c:dLbls>
          <c:numFmt formatCode="0.00&quot;K&quot;" sourceLinked="0"/>
          <c:txPr>
            <a:bodyPr/>
            <a:lstStyle/>
            <a:p>
              <a:pPr>
                <a:defRPr b="1" i="0" strike="noStrike" sz="9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  <c:min val="0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0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 Amount (K)</c:v>
                </c:pt>
              </c:strCache>
            </c:strRef>
          </c:tx>
          <c:spPr>
            <a:solidFill>
              <a:srgbClr val="E8A73B"/>
            </a:solidFill>
            <a:effectLst/>
          </c:spPr>
          <c:invertIfNegative val="0"/>
          <c:dLbls>
            <c:numFmt formatCode="0.0&quot;K&quot;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55+</c:v>
                  </c:pt>
                  <c:pt idx="1">
                    <c:v>45-54</c:v>
                  </c:pt>
                  <c:pt idx="2">
                    <c:v>35-44</c:v>
                  </c:pt>
                  <c:pt idx="3">
                    <c:v>25-34</c:v>
                  </c:pt>
                  <c:pt idx="4">
                    <c:v>18-24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</c:v>
                </c:pt>
                <c:pt idx="1">
                  <c:v>3.1</c:v>
                </c:pt>
                <c:pt idx="2">
                  <c:v>4.3</c:v>
                </c:pt>
                <c:pt idx="3">
                  <c:v>6.3</c:v>
                </c:pt>
                <c:pt idx="4">
                  <c:v>7.3</c:v>
                </c:pt>
              </c:numCache>
            </c:numRef>
          </c:val>
        </c:ser>
        <c:dLbls>
          <c:numFmt formatCode="0.0&quot;K&quot;" sourceLinked="0"/>
          <c:txPr>
            <a:bodyPr/>
            <a:lstStyle/>
            <a:p>
              <a:pPr>
                <a:defRPr b="1" i="0" strike="noStrike" sz="11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2"/>
          <c:min val="0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0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C043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Employed</c:v>
                  </c:pt>
                  <c:pt idx="1">
                    <c:v>Freelancer</c:v>
                  </c:pt>
                  <c:pt idx="2">
                    <c:v>Student</c:v>
                  </c:pt>
                  <c:pt idx="3">
                    <c:v>Unemployed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26</c:v>
                </c:pt>
                <c:pt idx="2">
                  <c:v>44</c:v>
                </c:pt>
                <c:pt idx="3">
                  <c:v>61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"/>
          <c:min val="0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E891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Fashion</c:v>
                  </c:pt>
                  <c:pt idx="1">
                    <c:v>Groceries/Essentials</c:v>
                  </c:pt>
                  <c:pt idx="2">
                    <c:v>Electronics</c:v>
                  </c:pt>
                  <c:pt idx="3">
                    <c:v>Travel</c:v>
                  </c:pt>
                  <c:pt idx="4">
                    <c:v>Home/Furniture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24</c:v>
                </c:pt>
                <c:pt idx="2">
                  <c:v>25</c:v>
                </c:pt>
                <c:pt idx="3">
                  <c:v>25</c:v>
                </c:pt>
                <c:pt idx="4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63373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26337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BNPL FINANCIAL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RISK ANALYSIS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|  Credit Risk, Repayment &amp; Portfolio Exposure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Ubong Solomon  •  Management Report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was conducted, and what it aims to inform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92240" cy="4434840"/>
          </a:xfrm>
          <a:prstGeom prst="roundRect">
            <a:avLst>
              <a:gd name="adj" fmla="val 2062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852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Now, Pay Later (BNPL) lending allows customers to spread purchases into instalments, but it also exposes lenders to default risk that must be actively monitored and managed.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a BNPL customer and loan dataset through an interactive dashboard, converting raw loan, repayment, and demographic data into insights that support decisions on credit risk, collections strategy, and portfolio exposure.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this report is to summarize the dashboard's findings for management review, and translate the numbers into clear, actionable recommendations.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69480" y="1783080"/>
            <a:ext cx="4370832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1920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9264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3291840"/>
            <a:ext cx="4370832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$3.49M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692640" y="3429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LOAN AMOUNT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9480" y="4800600"/>
            <a:ext cx="4370832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4937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24.76%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692640" y="4937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Description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underlying dataset contains, and its scope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863840" cy="443484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Customer ID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Unique identifier per customer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Age Group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18–24, 25–34, 35–44, 45–54, 55+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Employment Status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Employed, Freelancer, Student, Unemployed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Shopping Category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Electronics, Fashion, Groceries/Essentials, Home/Furniture, Travel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Credit Score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Banded: Below 580, 580–669, 670–739, 740–799, 800+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Income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Customer income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Loan Amount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Value of the BNPL loan issued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Transaction Value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Value of the underlying purchase transaction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Late Payment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Whether the customer has a late payment on record (Yes/No)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Default Risk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Risk classification: Low, Medium, or High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A1A2E"/>
                          </a:solidFill>
                        </a:rPr>
                        <a:t>Debt Amount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A1A2E"/>
                          </a:solidFill>
                        </a:rPr>
                        <a:t>Outstanding debt balance per customer</a:t>
                      </a:r>
                      <a:endParaRPr lang="en-US" sz="108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41080" y="1783080"/>
            <a:ext cx="2999232" cy="4434840"/>
          </a:xfrm>
          <a:prstGeom prst="roundRect">
            <a:avLst>
              <a:gd name="adj" fmla="val 3049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69680" y="2514600"/>
            <a:ext cx="2606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customers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$3.49M in active loan amount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Employment Status, Shopping Category, and Age Group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raw records were turned into the findings on the following slides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E8A7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Consolidation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3400" y="185623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loan, repayment, and risk-classification records combined into a single structured table.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548640" cy="548640"/>
          </a:xfrm>
          <a:prstGeom prst="ellipse">
            <a:avLst/>
          </a:prstGeom>
          <a:solidFill>
            <a:srgbClr val="E8A7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43400" y="26974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values, consistent category naming, and correct Low/Medium/High risk classification.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548640" cy="548640"/>
          </a:xfrm>
          <a:prstGeom prst="ellipse">
            <a:avLst/>
          </a:prstGeom>
          <a:solidFill>
            <a:srgbClr val="E8A7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5387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343400" y="353872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amount, debt, default rate, and risk level aggregated by age group, employment status, category, and credit score band.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98264"/>
            <a:ext cx="548640" cy="548640"/>
          </a:xfrm>
          <a:prstGeom prst="ellipse">
            <a:avLst/>
          </a:prstGeom>
          <a:solidFill>
            <a:srgbClr val="E8A7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43799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437997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a 3-page interactive dashboard with KPI cards, a donut chart, stacked/ribbon charts, and bar charts.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39512"/>
            <a:ext cx="548640" cy="548640"/>
          </a:xfrm>
          <a:prstGeom prst="ellipse">
            <a:avLst/>
          </a:prstGeom>
          <a:solidFill>
            <a:srgbClr val="E8A73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39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52212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343400" y="522122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patterns to identify where default risk concentrates and surface priority areas for management attention.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used: Power BI Desktop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•  ANALYSIS AND FINDING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Performance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portfolio and risk metrics across the full customer 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468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96596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44368" y="2468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944368" y="32004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CUSTOMERS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196596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30368" y="2468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24.76%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230368" y="32004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196596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16368" y="2468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$3.49M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516368" y="32004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LOAN AMOUNT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92640" y="196596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02368" y="24688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663.98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802368" y="32004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CREDIT 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9167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61772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521 customers (5.21%) are classified High Risk, and hold $412.6K in total high-risk debt — roughly ~$792 average debt per high-risk customer, more than double the $348.81 portfolio-wide average.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2,476 late-repayment customers track almost exactly with the 24.76% overall default rate, confirming late payment history as a reliable early-warning signal.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•  ANALYSIS AND FINDING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Risk Distribution &amp; by Employment Status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customers are few but costly; risk rises sharply from Employed to Unemployed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 Distribution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94560"/>
          <a:ext cx="4206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21208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 by Employment Status (%)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212080" y="2194560"/>
          <a:ext cx="6400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•  ANALYSIS AND FINDING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BNPL Debt by Category &amp; Late Payment vs. Risk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and Electronics drive ~70% of debt; late payers skew heavily toward higher risk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BNPL Debt by Shopping Category (USD, Millions)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9456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Late Payment Status (Thousands)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219456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263640" y="6263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Late Payment customers (~2.48K) closely match the 2,476 Late Repayment Customers KPI and the 24.76% default rate.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•  ANALYSIS AND FINDING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&amp; Risk by Age Group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customers (18–34) drive the largest share of usage, loan value, and volume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 by Age Group — Total vs. Low Risk (Thousands)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9456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by Age Group (USD, Thousands)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219456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•  ANALYSIS AND FINDING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Rate: Employment Status vs. Shopping Category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 is a strong risk signal; shopping category is a weak 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Employment Status (%)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9456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Shopping Category (%)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219456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patterns management should be most aware of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26337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39112"/>
            <a:ext cx="457200" cy="457200"/>
          </a:xfrm>
          <a:prstGeom prst="ellipse">
            <a:avLst/>
          </a:prstGeom>
          <a:solidFill>
            <a:srgbClr val="E8A7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0208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customers are few but costly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of customers (521) hold $412.6K in debt — ~$792 average per high-risk customer, over 2x the portfolio average.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263373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039112"/>
            <a:ext cx="457200" cy="457200"/>
          </a:xfrm>
          <a:prstGeom prst="ellipse">
            <a:avLst/>
          </a:prstGeom>
          <a:solidFill>
            <a:srgbClr val="E8A73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0208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 is the strongest risk signal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rises from 15% (Employed) to 61% (Unemployed) — a 4x spread.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263373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187952"/>
            <a:ext cx="457200" cy="457200"/>
          </a:xfrm>
          <a:prstGeom prst="ellipse">
            <a:avLst/>
          </a:prstGeom>
          <a:solidFill>
            <a:srgbClr val="E8A73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1696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 history predicts risk reliably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2,476 late-repayment customers track almost exactly with the 24.76% overall default rate.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9319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263373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4187952"/>
            <a:ext cx="457200" cy="457200"/>
          </a:xfrm>
          <a:prstGeom prst="ellipse">
            <a:avLst/>
          </a:prstGeom>
          <a:solidFill>
            <a:srgbClr val="E8A73B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1696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&amp; Electronics dominate debt exposure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0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account for ~70% of total BNPL debt outstanding.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 for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5623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targeted collections and support strategy for High Risk customers, given their outsized average debt.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8775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5146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underwriting or apply risk-adjusted terms for Unemployed and Student applicants.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3192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19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late payment history as an early-warning signal — flag and act on the first late payment.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05079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9776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credit exposure concentration in Fashion and Electronics (~70% of total BNPL debt).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7823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82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709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credit score band ordering on the dashboard to avoid misreading the risk relationship.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51383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513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4406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product and repayment terms for the 18–34 age segment, which drives the most usage and loan value.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023360"/>
          </a:xfrm>
          <a:prstGeom prst="roundRect">
            <a:avLst>
              <a:gd name="adj" fmla="val 2273"/>
            </a:avLst>
          </a:prstGeom>
          <a:solidFill>
            <a:srgbClr val="26337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10378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10,000 BNPL customers and $3.49M in active loans, the portfolio carries an overall default rate of 24.76%, with 521 customers (5.2%) classified High Risk and holding a disproportionate $412.6K in debt. Employment status is the clearest driver of risk — default rates range from 15% for Employed customers to 61% for Unemployed customers — while shopping category shows only a weak relationship to default risk. Late payment history closely tracks the overall default rate, making it a reliable early-warning signal, and younger customers (18–34) account for the largest share of both usage and loan value. Acting on the recommendations in this report — sharper underwriting by employment status, early intervention on late payments, and closer monitoring of Fashion/Electronics exposure — can help management reduce default losses while continuing to serve the growing BNPL customer base responsibly.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Financial Default Risk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6337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requests for deeper drill-down analysis are welcome.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Ubong Solomon  •  BNPL Financial Default Risk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2026-09-20T00:19:36Z</dcterms:created>
  <dcterms:modified xsi:type="dcterms:W3CDTF">2026-09-20T00:19:36Z</dcterms:modified>
</cp:coreProperties>
</file>